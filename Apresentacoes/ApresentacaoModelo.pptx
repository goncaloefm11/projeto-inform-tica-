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0" r:id="rId10"/>
    <p:sldId id="264" r:id="rId11"/>
    <p:sldId id="265" r:id="rId12"/>
    <p:sldId id="266" r:id="rId13"/>
    <p:sldId id="267" r:id="rId14"/>
    <p:sldId id="268" r:id="rId15"/>
    <p:sldId id="269" r:id="rId16"/>
  </p:sldIdLst>
  <p:sldSz cx="16256000" cy="9144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02032"/>
    <a:srgbClr val="143442"/>
    <a:srgbClr val="F3D392"/>
    <a:srgbClr val="1522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377" autoAdjust="0"/>
    <p:restoredTop sz="59695" autoAdjust="0"/>
  </p:normalViewPr>
  <p:slideViewPr>
    <p:cSldViewPr>
      <p:cViewPr>
        <p:scale>
          <a:sx n="33" d="100"/>
          <a:sy n="33" d="100"/>
        </p:scale>
        <p:origin x="1152" y="8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45" d="100"/>
        <a:sy n="145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3" name="Marcador de Posição d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081D02-B28B-2B4A-B58D-41192D450517}" type="datetimeFigureOut">
              <a:rPr lang="pt-PT" smtClean="0"/>
              <a:t>29/10/26</a:t>
            </a:fld>
            <a:endParaRPr lang="pt-PT"/>
          </a:p>
        </p:txBody>
      </p:sp>
      <p:sp>
        <p:nvSpPr>
          <p:cNvPr id="4" name="Marcador de Posição da Imagem do Diapositivo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PT"/>
          </a:p>
        </p:txBody>
      </p:sp>
      <p:sp>
        <p:nvSpPr>
          <p:cNvPr id="5" name="Marcador de Posição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6" name="Marcador de Posição do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7" name="Marcador de Posição do Número do Diapositivo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43EA960-399D-AF4A-9809-D4FF8BC4B6FB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8295579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Bom dia a todos. Vamos apresentar o nosso Projeto de Engenharia Informática, que se foca na área das Linguagens Naturais Controladas, ou LNC.</a:t>
            </a:r>
          </a:p>
          <a:p>
            <a:r>
              <a:rPr lang="pt-P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JPG</a:t>
            </a:r>
          </a:p>
          <a:p>
            <a:r>
              <a:rPr lang="pt-P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nosso grande foco prático neste trabalho é o design de um 'Português Determinístico’ para Autorização Corporativa e o Controlo de Acesso. Em termos simples, queremos garantir que as regras de segurança de uma empresa possam ser lidas por humanos, mas executadas sem falhas por computadores.</a:t>
            </a:r>
          </a:p>
          <a:p>
            <a:r>
              <a:rPr lang="pt-P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 atingir este objetivo, o nosso projeto funciona como uma ponte entre duas áreas fundamentais. (Investigação Lógica e a Arquitetura Computacional.)</a:t>
            </a:r>
          </a:p>
          <a:p>
            <a:endParaRPr lang="pt-PT" dirty="0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3EA960-399D-AF4A-9809-D4FF8BC4B6FB}" type="slidenum">
              <a:rPr lang="pt-PT" smtClean="0"/>
              <a:t>1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1155667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nosso dia a dia, usamos linguagem informal que, para nós, funciona graças ao contexto. </a:t>
            </a:r>
            <a:br>
              <a:rPr lang="pt-P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pt-P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Exemplo: </a:t>
            </a:r>
            <a:r>
              <a:rPr lang="pt-PT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'Ele pode alterar isso se tiver as permissões certas'</a:t>
            </a:r>
            <a:r>
              <a:rPr lang="pt-P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Para uma máquina, esta frase é um pesadelo lógico. Quem é o 'Ele'? O que é exatamente 'isso'? E a palavra 'pode' significa que o sistema lhe dá capacidade técnica ou que ele está legalmente autorizado?.</a:t>
            </a:r>
          </a:p>
          <a:p>
            <a:endParaRPr lang="pt-PT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P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É para resolver isto que a LNC atua, traduzindo a frase ambígua na linguagem controlada e obtemos </a:t>
            </a:r>
            <a:r>
              <a:rPr lang="pt-PT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'O utilizador pode alterar o pedido se possuir permissão de edição’</a:t>
            </a:r>
            <a:r>
              <a:rPr lang="pt-P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pt-PT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P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diferença é clara: o sujeito, o objeto e a condição tornam-se explicitamente definidos. Ao fazê-lo, garantimos que existe apenas uma única leitura possível para a máquina, eliminando qualquer duvida</a:t>
            </a:r>
            <a:endParaRPr lang="pt-PT" dirty="0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3EA960-399D-AF4A-9809-D4FF8BC4B6FB}" type="slidenum">
              <a:rPr lang="pt-PT" smtClean="0"/>
              <a:t>2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6241022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Chegados a este ponto, é natural perguntarem: porque é que não usamos simplesmente a IA para traduzir o texto para código?</a:t>
            </a:r>
          </a:p>
          <a:p>
            <a:endParaRPr lang="pt-PT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P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problema está no risco de alucinação. Os </a:t>
            </a:r>
            <a:r>
              <a:rPr lang="pt-P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LLMs</a:t>
            </a:r>
            <a:r>
              <a:rPr lang="pt-P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baseiam-se em inferência probabilística. Quando estamos a lidar com políticas de segurança corporativa rigorosas, a probabilidade simplesmente não é suficiente. Precisamos de garantias matemáticas.</a:t>
            </a:r>
          </a:p>
          <a:p>
            <a:endParaRPr lang="pt-PT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P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 usarmos a abordagem convencional de um LLM, em que traduzimos texto livre diretamente para código, estamos a criar uma 'Caixa Negra' (</a:t>
            </a:r>
            <a:r>
              <a:rPr lang="pt-P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Black</a:t>
            </a:r>
            <a:r>
              <a:rPr lang="pt-P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Box). Esta abordagem sofre de falhas graves cada vez que o modelo é corrido.</a:t>
            </a:r>
          </a:p>
          <a:p>
            <a:endParaRPr lang="pt-PT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P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nossa abordagem com a LNC funciona pelo caminho oposto, atuando como uma 'Caixa Branca' (White Box). A LNC serve de representação intermédia: o texto livre passa para LNC, e só depois é executado. </a:t>
            </a:r>
            <a:endParaRPr lang="pt-PT" dirty="0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3EA960-399D-AF4A-9809-D4FF8BC4B6FB}" type="slidenum">
              <a:rPr lang="pt-PT" smtClean="0"/>
              <a:t>3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98027464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Mas afinal, como se constrói e o que é tecnicamente esta Linguagem Natural Controlada? Para visualizarem o processo, pensem num funil.</a:t>
            </a:r>
          </a:p>
          <a:p>
            <a:endParaRPr lang="pt-PT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P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 entrada do funil, temos a Língua Portuguesa Completa, que é ampla e ambígua. </a:t>
            </a:r>
          </a:p>
          <a:p>
            <a:r>
              <a:rPr lang="pt-P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 a tornarmos processável para um computador, aplicamos três filtros de restrição:</a:t>
            </a:r>
          </a:p>
          <a:p>
            <a:pPr lvl="0"/>
            <a:r>
              <a:rPr lang="pt-P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-Impor um Vocabulário Restrito(onde cada palavra tem apenas um significado)</a:t>
            </a:r>
          </a:p>
          <a:p>
            <a:pPr lvl="0"/>
            <a:r>
              <a:rPr lang="pt-P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-Aplicar uma Gramática Formal</a:t>
            </a:r>
          </a:p>
          <a:p>
            <a:pPr lvl="0"/>
            <a:r>
              <a:rPr lang="pt-P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-Garantir uma Semântica Unívoca(onde não há duplo sentido)</a:t>
            </a:r>
          </a:p>
          <a:p>
            <a:pPr lvl="0"/>
            <a:endParaRPr lang="pt-PT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P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que sai na outra ponta do funil é a nossa LNC: um subconjunto da língua que é inteiramente previsível para as máquinas.</a:t>
            </a:r>
          </a:p>
          <a:p>
            <a:r>
              <a:rPr lang="pt-P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nosso objetivo final com este design é simples mas poderoso: LER no </a:t>
            </a:r>
            <a:r>
              <a:rPr lang="pt-P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powerpoint</a:t>
            </a:r>
            <a:endParaRPr lang="pt-PT" dirty="0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3EA960-399D-AF4A-9809-D4FF8BC4B6FB}" type="slidenum">
              <a:rPr lang="pt-PT" smtClean="0"/>
              <a:t>4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89860518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Neste projeto, começámos por definir o tipo de linguagem controlada que queríamos construir. Existem duas orientações principais: as HOCL, desenhadas para facilitar a leitura humana e as MOCL, orientadas para as máquinas. </a:t>
            </a:r>
          </a:p>
          <a:p>
            <a:r>
              <a:rPr lang="pt-P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nosso foco recai inteiramente nas MOCL, com o foco de eliminar a ambiguidade e tradução para lógica, permitindo o processamento por </a:t>
            </a:r>
            <a:r>
              <a:rPr lang="pt-PT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parsers</a:t>
            </a:r>
            <a:r>
              <a:rPr lang="pt-P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para representação de conhecimento. </a:t>
            </a:r>
          </a:p>
          <a:p>
            <a:endParaRPr lang="pt-PT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P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 o nosso projeto, isto significa desenvolver um fragmento de Português com regras estritas o suficiente para garantir uma validação determinística por um compilador.</a:t>
            </a:r>
            <a:endParaRPr lang="pt-PT" dirty="0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3EA960-399D-AF4A-9809-D4FF8BC4B6FB}" type="slidenum">
              <a:rPr lang="pt-PT" smtClean="0"/>
              <a:t>5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98261125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 posicionarmos a nossa linguagem entre o 'Caos' da língua natural e o 'Código' puro, utilizámos o Espaço de Classificação PENS, proposto por Tobias </a:t>
            </a:r>
            <a:r>
              <a:rPr lang="pt-P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Kuhn</a:t>
            </a:r>
            <a:r>
              <a:rPr lang="pt-P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Este espaço avalia Precisão, Expressividade, Naturalidade e Simplicidade. </a:t>
            </a:r>
          </a:p>
          <a:p>
            <a:r>
              <a:rPr lang="pt-P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podem ver no gráfico, a nossa LNC faz uma escolha deliberada: LER parte de baixo do </a:t>
            </a:r>
            <a:r>
              <a:rPr lang="pt-P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powerpoint</a:t>
            </a:r>
            <a:endParaRPr lang="pt-PT" dirty="0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3EA960-399D-AF4A-9809-D4FF8BC4B6FB}" type="slidenum">
              <a:rPr lang="pt-PT" smtClean="0"/>
              <a:t>6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14762586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é que impomos esta precisão? Através de duas categorias de regras. </a:t>
            </a:r>
          </a:p>
          <a:p>
            <a:r>
              <a:rPr lang="pt-P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 Regras Proscritivas, que definem o que evitar: proibimos pronomes vagos como 'Ele' ou 'Isso' porque não podem ser resolvidos deterministicamente, eliminamos o uso de sinónimos, exigindo que um conceito corresponda a uma única palavra, e bloqueamos subordinações longas. </a:t>
            </a:r>
          </a:p>
          <a:p>
            <a:endParaRPr lang="pt-PT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P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 outro lado, as Regras Prescritivas, impõem padrões obrigatórios: uma estrutura rígida de Sujeito, Verbo e Objeto, o uso estrito de dicionários de domínio pré-aprovados e a declaração explícita de todas as dependências ou condições.</a:t>
            </a:r>
            <a:endParaRPr lang="pt-PT" dirty="0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3EA960-399D-AF4A-9809-D4FF8BC4B6FB}" type="slidenum">
              <a:rPr lang="pt-PT" smtClean="0"/>
              <a:t>7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54560936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Aplicámos estas regras a um domínio alvo específico: as Políticas de Controlo de Acesso. O nosso fragmento de Português.....(ler)</a:t>
            </a:r>
          </a:p>
          <a:p>
            <a:r>
              <a:rPr lang="pt-P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modelo liga um Agente (como 'O utilizador') a uma Relação </a:t>
            </a:r>
            <a:r>
              <a:rPr lang="pt-P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Deôntica</a:t>
            </a:r>
            <a:r>
              <a:rPr lang="pt-P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que pode ser uma Permissão, Proibição ou Obrigação ('pode', 'não pode', 'deve'). Esta relação atua sobre um Recurso ('o pedido') e pode estar dependente de uma Guarda ou Condição ('se possuir permissão de edição’). </a:t>
            </a:r>
          </a:p>
          <a:p>
            <a:endParaRPr lang="pt-PT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P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Ler parte de baixo</a:t>
            </a:r>
            <a:endParaRPr lang="pt-PT" dirty="0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3EA960-399D-AF4A-9809-D4FF8BC4B6FB}" type="slidenum">
              <a:rPr lang="pt-PT" smtClean="0"/>
              <a:t>8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9659054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Aplicámos também estas regras a um segundo domínio alvo: a Auditoria e Monitorização de Risco. O nosso fragmento de Português foi otimizado para expressar regras de risco e consultas analíticas no grande retalho. O modelo liga um </a:t>
            </a:r>
            <a:r>
              <a:rPr lang="pt-PT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Evento Condicional</a:t>
            </a:r>
            <a:r>
              <a:rPr lang="pt-P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(como 'Se um operador anular mais de 5 talões no mesmo turno') a um </a:t>
            </a:r>
            <a:r>
              <a:rPr lang="pt-PT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Comportamento ou Ação</a:t>
            </a:r>
            <a:r>
              <a:rPr lang="pt-P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('o sistema envia um email de alerta com o relatório'). Esta ação é direcionada a uma </a:t>
            </a:r>
            <a:r>
              <a:rPr lang="pt-PT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Consequência ou Alvo</a:t>
            </a:r>
            <a:r>
              <a:rPr lang="pt-P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('para o supervisor') e pode ser refinada por uma </a:t>
            </a:r>
            <a:r>
              <a:rPr lang="pt-PT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Janela Temporal ou Métrica</a:t>
            </a:r>
            <a:r>
              <a:rPr lang="pt-P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('no último mês' ou 'superior a 150 euros'). Este foco garante que a auditoria de risco é imutável e </a:t>
            </a:r>
            <a:r>
              <a:rPr lang="pt-P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auditável</a:t>
            </a:r>
            <a:r>
              <a:rPr lang="pt-P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em tempo real.</a:t>
            </a:r>
            <a:endParaRPr lang="pt-PT" dirty="0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3EA960-399D-AF4A-9809-D4FF8BC4B6FB}" type="slidenum">
              <a:rPr lang="pt-PT" smtClean="0"/>
              <a:t>9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21214352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 que a máquina interprete esta LNC, construímos um </a:t>
            </a:r>
            <a:r>
              <a:rPr lang="pt-PT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pipeline</a:t>
            </a:r>
            <a:r>
              <a:rPr lang="pt-P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em </a:t>
            </a:r>
            <a:r>
              <a:rPr lang="pt-P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Python</a:t>
            </a:r>
            <a:r>
              <a:rPr lang="pt-P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dividido em três blocos. </a:t>
            </a:r>
          </a:p>
          <a:p>
            <a:r>
              <a:rPr lang="pt-P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Bloco 1 faz a Análise Léxica, desconstruindo a frase num fluxo de </a:t>
            </a:r>
            <a:r>
              <a:rPr lang="pt-P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tokens</a:t>
            </a:r>
            <a:r>
              <a:rPr lang="pt-P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r>
              <a:rPr lang="pt-P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Bloco 2 é o </a:t>
            </a:r>
            <a:r>
              <a:rPr lang="pt-PT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Parsing</a:t>
            </a:r>
            <a:r>
              <a:rPr lang="pt-P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que valida os </a:t>
            </a:r>
            <a:r>
              <a:rPr lang="pt-P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tokens</a:t>
            </a:r>
            <a:r>
              <a:rPr lang="pt-P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através de uma Gramática Livre de Contexto, gerando uma Árvore de Sintaxe Abstrata. </a:t>
            </a:r>
          </a:p>
          <a:p>
            <a:r>
              <a:rPr lang="pt-P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Bloco 3 é a Execução, onde ocorre a tradução determinística para Lógica Formal ou SPARQL. </a:t>
            </a:r>
            <a:endParaRPr lang="pt-PT" dirty="0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3EA960-399D-AF4A-9809-D4FF8BC4B6FB}" type="slidenum">
              <a:rPr lang="pt-PT" smtClean="0"/>
              <a:t>10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43615028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Entrando no Bloco 1, temos a Análise Léxica. Aqui, o nosso </a:t>
            </a:r>
            <a:r>
              <a:rPr lang="pt-PT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Lexer</a:t>
            </a:r>
            <a:r>
              <a:rPr lang="pt-P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segmenta a entrada e classifica cada elemento com base num dicionário rigoroso. Como podem ver no exemplo: </a:t>
            </a:r>
          </a:p>
          <a:p>
            <a:r>
              <a:rPr lang="pt-P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'utilizador' é classificada como o Sujeito do domínio,</a:t>
            </a:r>
          </a:p>
          <a:p>
            <a:r>
              <a:rPr lang="pt-P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'pode' como a Modalidade de permissão etc. </a:t>
            </a:r>
          </a:p>
          <a:p>
            <a:r>
              <a:rPr lang="pt-P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regra de ouro aqui é a tolerância zero: LER </a:t>
            </a:r>
            <a:r>
              <a:rPr lang="pt-P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powerpoint</a:t>
            </a:r>
            <a:endParaRPr lang="pt-PT" dirty="0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3EA960-399D-AF4A-9809-D4FF8BC4B6FB}" type="slidenum">
              <a:rPr lang="pt-PT" smtClean="0"/>
              <a:t>11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60136506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Passo 2, o </a:t>
            </a:r>
            <a:r>
              <a:rPr lang="pt-PT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Parser</a:t>
            </a:r>
            <a:r>
              <a:rPr lang="pt-P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recebe estes </a:t>
            </a:r>
            <a:r>
              <a:rPr lang="pt-P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tokens</a:t>
            </a:r>
            <a:r>
              <a:rPr lang="pt-P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 aplica regras EBNF, ou seja, regras formais de gramática. Se a estrutura da frase respeitar a gramática, o sistema gera uma AST. O aspeto mais importante deste passo é que .... LER POWERPOINT</a:t>
            </a:r>
            <a:endParaRPr lang="pt-PT" dirty="0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3EA960-399D-AF4A-9809-D4FF8BC4B6FB}" type="slidenum">
              <a:rPr lang="pt-PT" smtClean="0"/>
              <a:t>12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25872729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 fim, no Passo 3, esta árvore é consumida por um compilador ou motor de regras. Esta estrutura intermédia é convertida em consultas acionáveis – como código SPARQL – ou em provas lógicas. O contexto académico atual, suportado por investigações de autores como Luz e Caio, demonstra que esta representação intermédia é a chave para interagir com Grafos de Conhecimento com 100% de precisão.</a:t>
            </a:r>
            <a:endParaRPr lang="pt-PT" dirty="0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3EA960-399D-AF4A-9809-D4FF8BC4B6FB}" type="slidenum">
              <a:rPr lang="pt-PT" smtClean="0"/>
              <a:t>13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59309113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Tudo isto leva-nos a um novo paradigma. Se compararmos abordagens, </a:t>
            </a:r>
          </a:p>
          <a:p>
            <a:r>
              <a:rPr lang="pt-P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Linguagem Natural processada diretamente por um LLM tem alta legibilidade humana, mas baixa precisão determinística. </a:t>
            </a:r>
          </a:p>
          <a:p>
            <a:r>
              <a:rPr lang="pt-P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 outro lado, o código puro, como </a:t>
            </a:r>
            <a:r>
              <a:rPr lang="pt-P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Python</a:t>
            </a:r>
            <a:r>
              <a:rPr lang="pt-P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ou SPARQL, tem alta precisão, mas baixa legibilidade e uma barreira de entrada alta.</a:t>
            </a:r>
          </a:p>
          <a:p>
            <a:r>
              <a:rPr lang="pt-P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 nosso projeto de LNC oferece o melhor dos dois mundos: Alta legibilidade humana e Alta precisão determinística. </a:t>
            </a:r>
          </a:p>
          <a:p>
            <a:r>
              <a:rPr lang="pt-P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LNC funciona como o 'elo perdido': modelos recentes provam que utilizar </a:t>
            </a:r>
            <a:r>
              <a:rPr lang="pt-P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LLMs</a:t>
            </a:r>
            <a:r>
              <a:rPr lang="pt-P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para gerar texto em LNC, em vez de código complexo como SPARQL, reduz drasticamente tanto as necessidades de dados de treino como os erros de sintaxe.</a:t>
            </a:r>
            <a:endParaRPr lang="pt-PT" dirty="0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3EA960-399D-AF4A-9809-D4FF8BC4B6FB}" type="slidenum">
              <a:rPr lang="pt-PT" smtClean="0"/>
              <a:t>14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4545471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 concluir, o nosso trabalho demonstra que este compromisso essencial compensa. Primeiro, obtemos Menos Ambiguidade: ao restringir o vocabulário e a gramática, garantimos que cada frase corporativa tem apenas uma interpretação possível. Segundo, atingimos Previsibilidade Total: o nosso </a:t>
            </a:r>
            <a:r>
              <a:rPr lang="pt-PT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pipeline</a:t>
            </a:r>
            <a:r>
              <a:rPr lang="pt-P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converte texto em lógica matemática perfeitamente verificável. Trocamos expressividade literária por segurança sistémica, e no futuro, a sinergia entre LNC e sistemas RAG com </a:t>
            </a:r>
            <a:r>
              <a:rPr lang="pt-P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LLMs</a:t>
            </a:r>
            <a:r>
              <a:rPr lang="pt-P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permitirá gerar consultas em ambientes de segurança onde não há margem para erro. A grande lição é que a precisão não é uma limitação da linguagem; é uma funcionalidade desenhada na arquitetura. Obrigada pela vossa atenção.</a:t>
            </a:r>
            <a:endParaRPr lang="pt-PT" dirty="0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3EA960-399D-AF4A-9809-D4FF8BC4B6FB}" type="slidenum">
              <a:rPr lang="pt-PT" smtClean="0"/>
              <a:t>15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4934578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rcRect b="2941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rcRect b="3781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rcRect b="2521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rcRect b="2101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rcRect b="2941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rcRect b="2941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rcRect b="630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rcRect b="630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2032" y="0"/>
            <a:ext cx="16251936" cy="9144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Imagem 1">
            <a:extLst>
              <a:ext uri="{FF2B5EF4-FFF2-40B4-BE49-F238E27FC236}">
                <a16:creationId xmlns:a16="http://schemas.microsoft.com/office/drawing/2014/main" id="{FFEE55ED-9579-7A71-4AE9-EE69F3DE32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479" t="2431" r="1068" b="7486"/>
          <a:stretch>
            <a:fillRect/>
          </a:stretch>
        </p:blipFill>
        <p:spPr>
          <a:xfrm>
            <a:off x="0" y="0"/>
            <a:ext cx="16251936" cy="91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05034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rcRect b="2941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rcRect b="7143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Retângulo 2">
            <a:extLst>
              <a:ext uri="{FF2B5EF4-FFF2-40B4-BE49-F238E27FC236}">
                <a16:creationId xmlns:a16="http://schemas.microsoft.com/office/drawing/2014/main" id="{A9BB5B8E-F6CB-5245-FDD6-214C53027F09}"/>
              </a:ext>
            </a:extLst>
          </p:cNvPr>
          <p:cNvSpPr/>
          <p:nvPr/>
        </p:nvSpPr>
        <p:spPr>
          <a:xfrm>
            <a:off x="1498600" y="4114800"/>
            <a:ext cx="13182600" cy="1066800"/>
          </a:xfrm>
          <a:prstGeom prst="rect">
            <a:avLst/>
          </a:prstGeom>
          <a:solidFill>
            <a:srgbClr val="152233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4" name="Seta para Baixo 13">
            <a:extLst>
              <a:ext uri="{FF2B5EF4-FFF2-40B4-BE49-F238E27FC236}">
                <a16:creationId xmlns:a16="http://schemas.microsoft.com/office/drawing/2014/main" id="{6E2C6C5C-46F7-7EBE-B345-AD5464EB7F6D}"/>
              </a:ext>
            </a:extLst>
          </p:cNvPr>
          <p:cNvSpPr/>
          <p:nvPr/>
        </p:nvSpPr>
        <p:spPr>
          <a:xfrm rot="17681127">
            <a:off x="8872397" y="3799291"/>
            <a:ext cx="377315" cy="1600822"/>
          </a:xfrm>
          <a:prstGeom prst="downArrow">
            <a:avLst/>
          </a:prstGeom>
          <a:solidFill>
            <a:srgbClr val="F3D392"/>
          </a:solidFill>
          <a:ln>
            <a:solidFill>
              <a:srgbClr val="F3D39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5" name="Seta para Baixo 14">
            <a:extLst>
              <a:ext uri="{FF2B5EF4-FFF2-40B4-BE49-F238E27FC236}">
                <a16:creationId xmlns:a16="http://schemas.microsoft.com/office/drawing/2014/main" id="{22C49212-835B-886D-F083-AB9A60D104D8}"/>
              </a:ext>
            </a:extLst>
          </p:cNvPr>
          <p:cNvSpPr/>
          <p:nvPr/>
        </p:nvSpPr>
        <p:spPr>
          <a:xfrm rot="17681127">
            <a:off x="12199797" y="3799291"/>
            <a:ext cx="377315" cy="1600822"/>
          </a:xfrm>
          <a:prstGeom prst="downArrow">
            <a:avLst/>
          </a:prstGeom>
          <a:solidFill>
            <a:srgbClr val="F3D392"/>
          </a:solidFill>
          <a:ln>
            <a:solidFill>
              <a:srgbClr val="F3D39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7" name="Seta para Baixo 16">
            <a:extLst>
              <a:ext uri="{FF2B5EF4-FFF2-40B4-BE49-F238E27FC236}">
                <a16:creationId xmlns:a16="http://schemas.microsoft.com/office/drawing/2014/main" id="{2328624F-A3D1-61E6-04F1-5D6E92984754}"/>
              </a:ext>
            </a:extLst>
          </p:cNvPr>
          <p:cNvSpPr/>
          <p:nvPr/>
        </p:nvSpPr>
        <p:spPr>
          <a:xfrm rot="18189557">
            <a:off x="6002197" y="3861654"/>
            <a:ext cx="377315" cy="1600822"/>
          </a:xfrm>
          <a:prstGeom prst="downArrow">
            <a:avLst/>
          </a:prstGeom>
          <a:solidFill>
            <a:srgbClr val="F3D392"/>
          </a:solidFill>
          <a:ln>
            <a:solidFill>
              <a:srgbClr val="F3D39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8" name="Seta para Baixo 17">
            <a:extLst>
              <a:ext uri="{FF2B5EF4-FFF2-40B4-BE49-F238E27FC236}">
                <a16:creationId xmlns:a16="http://schemas.microsoft.com/office/drawing/2014/main" id="{CDFBDDBC-7021-DFAA-A717-E8FBE6E179FC}"/>
              </a:ext>
            </a:extLst>
          </p:cNvPr>
          <p:cNvSpPr/>
          <p:nvPr/>
        </p:nvSpPr>
        <p:spPr>
          <a:xfrm>
            <a:off x="2905791" y="4114800"/>
            <a:ext cx="535118" cy="1028443"/>
          </a:xfrm>
          <a:prstGeom prst="downArrow">
            <a:avLst/>
          </a:prstGeom>
          <a:solidFill>
            <a:srgbClr val="F3D392"/>
          </a:solidFill>
          <a:ln>
            <a:solidFill>
              <a:srgbClr val="F3D39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cxnSp>
        <p:nvCxnSpPr>
          <p:cNvPr id="20" name="Conexão Reta 19">
            <a:extLst>
              <a:ext uri="{FF2B5EF4-FFF2-40B4-BE49-F238E27FC236}">
                <a16:creationId xmlns:a16="http://schemas.microsoft.com/office/drawing/2014/main" id="{56DBF29F-2877-0EF2-BC44-115BC92BC4C9}"/>
              </a:ext>
            </a:extLst>
          </p:cNvPr>
          <p:cNvCxnSpPr/>
          <p:nvPr/>
        </p:nvCxnSpPr>
        <p:spPr>
          <a:xfrm>
            <a:off x="2336800" y="3962400"/>
            <a:ext cx="2057400" cy="20797"/>
          </a:xfrm>
          <a:prstGeom prst="line">
            <a:avLst/>
          </a:prstGeom>
          <a:ln>
            <a:solidFill>
              <a:srgbClr val="F3D3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exão Reta 20">
            <a:extLst>
              <a:ext uri="{FF2B5EF4-FFF2-40B4-BE49-F238E27FC236}">
                <a16:creationId xmlns:a16="http://schemas.microsoft.com/office/drawing/2014/main" id="{B6D0DC83-E782-B269-8463-F939B2855FCA}"/>
              </a:ext>
            </a:extLst>
          </p:cNvPr>
          <p:cNvCxnSpPr/>
          <p:nvPr/>
        </p:nvCxnSpPr>
        <p:spPr>
          <a:xfrm>
            <a:off x="4743845" y="3941603"/>
            <a:ext cx="2057400" cy="20797"/>
          </a:xfrm>
          <a:prstGeom prst="line">
            <a:avLst/>
          </a:prstGeom>
          <a:ln>
            <a:solidFill>
              <a:srgbClr val="F3D3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exão Reta 21">
            <a:extLst>
              <a:ext uri="{FF2B5EF4-FFF2-40B4-BE49-F238E27FC236}">
                <a16:creationId xmlns:a16="http://schemas.microsoft.com/office/drawing/2014/main" id="{3F4EC3B9-967A-79E5-ABC8-B894EB4A36CE}"/>
              </a:ext>
            </a:extLst>
          </p:cNvPr>
          <p:cNvCxnSpPr>
            <a:cxnSpLocks/>
          </p:cNvCxnSpPr>
          <p:nvPr/>
        </p:nvCxnSpPr>
        <p:spPr>
          <a:xfrm>
            <a:off x="6982744" y="3952001"/>
            <a:ext cx="1958056" cy="10399"/>
          </a:xfrm>
          <a:prstGeom prst="line">
            <a:avLst/>
          </a:prstGeom>
          <a:ln>
            <a:solidFill>
              <a:srgbClr val="F3D3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exão Reta 23">
            <a:extLst>
              <a:ext uri="{FF2B5EF4-FFF2-40B4-BE49-F238E27FC236}">
                <a16:creationId xmlns:a16="http://schemas.microsoft.com/office/drawing/2014/main" id="{FBA426CC-3481-D956-9536-6C8724F894E6}"/>
              </a:ext>
            </a:extLst>
          </p:cNvPr>
          <p:cNvCxnSpPr>
            <a:cxnSpLocks/>
          </p:cNvCxnSpPr>
          <p:nvPr/>
        </p:nvCxnSpPr>
        <p:spPr>
          <a:xfrm flipV="1">
            <a:off x="9118600" y="3941603"/>
            <a:ext cx="4814091" cy="20797"/>
          </a:xfrm>
          <a:prstGeom prst="line">
            <a:avLst/>
          </a:prstGeom>
          <a:ln>
            <a:solidFill>
              <a:srgbClr val="F3D3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rcRect b="3781"/>
          <a:stretch>
            <a:fillRect/>
          </a:stretch>
        </p:blipFill>
        <p:spPr>
          <a:xfrm>
            <a:off x="-69574" y="-39136"/>
            <a:ext cx="16395148" cy="9222271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4B362623-CA40-D036-D8CE-1BC5FF9ACB21}"/>
              </a:ext>
            </a:extLst>
          </p:cNvPr>
          <p:cNvSpPr/>
          <p:nvPr/>
        </p:nvSpPr>
        <p:spPr>
          <a:xfrm>
            <a:off x="13937974" y="8763000"/>
            <a:ext cx="2387600" cy="609600"/>
          </a:xfrm>
          <a:prstGeom prst="rect">
            <a:avLst/>
          </a:prstGeom>
          <a:solidFill>
            <a:srgbClr val="102032"/>
          </a:solidFill>
          <a:ln>
            <a:solidFill>
              <a:srgbClr val="10203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rcRect b="546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rcRect b="3781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Retângulo 2">
            <a:extLst>
              <a:ext uri="{FF2B5EF4-FFF2-40B4-BE49-F238E27FC236}">
                <a16:creationId xmlns:a16="http://schemas.microsoft.com/office/drawing/2014/main" id="{B7C8C78D-1EBF-79ED-5B96-F12E4A492B42}"/>
              </a:ext>
            </a:extLst>
          </p:cNvPr>
          <p:cNvSpPr/>
          <p:nvPr/>
        </p:nvSpPr>
        <p:spPr>
          <a:xfrm>
            <a:off x="1270000" y="3259394"/>
            <a:ext cx="3048000" cy="609600"/>
          </a:xfrm>
          <a:prstGeom prst="rect">
            <a:avLst/>
          </a:prstGeom>
          <a:solidFill>
            <a:srgbClr val="14344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E6DAD582-A394-A7B1-0B5B-71D1DE869F16}"/>
              </a:ext>
            </a:extLst>
          </p:cNvPr>
          <p:cNvSpPr txBox="1"/>
          <p:nvPr/>
        </p:nvSpPr>
        <p:spPr>
          <a:xfrm>
            <a:off x="1651000" y="3160693"/>
            <a:ext cx="22860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PT" sz="2800" dirty="0">
                <a:solidFill>
                  <a:schemeClr val="bg1"/>
                </a:solidFill>
              </a:rPr>
              <a:t>Legibilidade Humana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E97EF47F-DD54-925C-85CB-D17CF26175A6}"/>
              </a:ext>
            </a:extLst>
          </p:cNvPr>
          <p:cNvSpPr/>
          <p:nvPr/>
        </p:nvSpPr>
        <p:spPr>
          <a:xfrm>
            <a:off x="13868400" y="8763000"/>
            <a:ext cx="2387600" cy="381000"/>
          </a:xfrm>
          <a:prstGeom prst="rect">
            <a:avLst/>
          </a:prstGeom>
          <a:solidFill>
            <a:srgbClr val="102032"/>
          </a:solidFill>
          <a:ln>
            <a:solidFill>
              <a:srgbClr val="10203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rcRect b="3782"/>
          <a:stretch>
            <a:fillRect/>
          </a:stretch>
        </p:blipFill>
        <p:spPr>
          <a:xfrm>
            <a:off x="0" y="38100"/>
            <a:ext cx="16256000" cy="9105900"/>
          </a:xfrm>
          <a:prstGeom prst="rect">
            <a:avLst/>
          </a:prstGeom>
        </p:spPr>
      </p:pic>
      <p:sp>
        <p:nvSpPr>
          <p:cNvPr id="3" name="Retângulo 2">
            <a:extLst>
              <a:ext uri="{FF2B5EF4-FFF2-40B4-BE49-F238E27FC236}">
                <a16:creationId xmlns:a16="http://schemas.microsoft.com/office/drawing/2014/main" id="{8603704F-0FC2-2F64-6BAF-0432E1127516}"/>
              </a:ext>
            </a:extLst>
          </p:cNvPr>
          <p:cNvSpPr/>
          <p:nvPr/>
        </p:nvSpPr>
        <p:spPr>
          <a:xfrm>
            <a:off x="13868400" y="8763000"/>
            <a:ext cx="2387600" cy="647700"/>
          </a:xfrm>
          <a:prstGeom prst="rect">
            <a:avLst/>
          </a:prstGeom>
          <a:solidFill>
            <a:srgbClr val="102032"/>
          </a:solidFill>
          <a:ln>
            <a:solidFill>
              <a:srgbClr val="10203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348</TotalTime>
  <Words>1499</Words>
  <Application>Microsoft Macintosh PowerPoint</Application>
  <PresentationFormat>Personalizados</PresentationFormat>
  <Paragraphs>73</Paragraphs>
  <Slides>15</Slides>
  <Notes>15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15</vt:i4>
      </vt:variant>
    </vt:vector>
  </HeadingPairs>
  <TitlesOfParts>
    <vt:vector size="19" baseType="lpstr">
      <vt:lpstr>Aptos</vt:lpstr>
      <vt:lpstr>Arial</vt:lpstr>
      <vt:lpstr>Calibri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Gonçalo Emanuel Ferreira Magalhães</cp:lastModifiedBy>
  <cp:revision>8</cp:revision>
  <dcterms:created xsi:type="dcterms:W3CDTF">2006-08-16T00:00:00Z</dcterms:created>
  <dcterms:modified xsi:type="dcterms:W3CDTF">2026-10-29T14:07:43Z</dcterms:modified>
</cp:coreProperties>
</file>